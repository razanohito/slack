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Meiryo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Meiryo"/>
              </a:rPr>
              <a:t>3年継続の総額（試算、万円）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ステモン</c:v>
                </c:pt>
              </c:strCache>
            </c:strRef>
          </c:tx>
          <c:spPr>
            <a:solidFill>
              <a:srgbClr val="F5B700"/>
            </a:solidFill>
            <a:effectLst/>
          </c:spPr>
          <c:invertIfNegative val="0"/>
          <c:dLbls>
            <c:numFmt formatCode="0.0&quot;万&quot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LITALICO</c:v>
                  </c:pt>
                  <c:pt idx="1">
                    <c:v>Tech Kids</c:v>
                  </c:pt>
                  <c:pt idx="2">
                    <c:v>クレファス</c:v>
                  </c:pt>
                  <c:pt idx="3">
                    <c:v>CodeCampKIDS</c:v>
                  </c:pt>
                  <c:pt idx="4">
                    <c:v>STEAM Campus</c:v>
                  </c:pt>
                  <c:pt idx="5">
                    <c:v>プログラボ</c:v>
                  </c:pt>
                  <c:pt idx="6">
                    <c:v>ヒューマンアカデミー</c:v>
                  </c:pt>
                  <c:pt idx="7">
                    <c:v>ロボ団</c:v>
                  </c:pt>
                  <c:pt idx="8">
                    <c:v>ステモン</c:v>
                  </c:pt>
                  <c:pt idx="9">
                    <c:v>エジソンアカデミー</c:v>
                  </c:pt>
                  <c:pt idx="10">
                    <c:v>QUREO</c:v>
                  </c:pt>
                  <c:pt idx="11">
                    <c:v>タミヤ</c:v>
                  </c:pt>
                  <c:pt idx="12">
                    <c:v>Z会</c:v>
                  </c:pt>
                  <c:pt idx="13">
                    <c:v>デジタネ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46.5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競合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.0&quot;万&quot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LITALICO</c:v>
                  </c:pt>
                  <c:pt idx="1">
                    <c:v>Tech Kids</c:v>
                  </c:pt>
                  <c:pt idx="2">
                    <c:v>クレファス</c:v>
                  </c:pt>
                  <c:pt idx="3">
                    <c:v>CodeCampKIDS</c:v>
                  </c:pt>
                  <c:pt idx="4">
                    <c:v>STEAM Campus</c:v>
                  </c:pt>
                  <c:pt idx="5">
                    <c:v>プログラボ</c:v>
                  </c:pt>
                  <c:pt idx="6">
                    <c:v>ヒューマンアカデミー</c:v>
                  </c:pt>
                  <c:pt idx="7">
                    <c:v>ロボ団</c:v>
                  </c:pt>
                  <c:pt idx="8">
                    <c:v>ステモン</c:v>
                  </c:pt>
                  <c:pt idx="9">
                    <c:v>エジソンアカデミー</c:v>
                  </c:pt>
                  <c:pt idx="10">
                    <c:v>QUREO</c:v>
                  </c:pt>
                  <c:pt idx="11">
                    <c:v>タミヤ</c:v>
                  </c:pt>
                  <c:pt idx="12">
                    <c:v>Z会</c:v>
                  </c:pt>
                  <c:pt idx="13">
                    <c:v>デジタネ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108.6</c:v>
                </c:pt>
                <c:pt idx="1">
                  <c:v>91.5</c:v>
                </c:pt>
                <c:pt idx="2">
                  <c:v>76.1</c:v>
                </c:pt>
                <c:pt idx="3">
                  <c:v>53.9</c:v>
                </c:pt>
                <c:pt idx="4">
                  <c:v>51.5</c:v>
                </c:pt>
                <c:pt idx="5">
                  <c:v>48.4</c:v>
                </c:pt>
                <c:pt idx="6">
                  <c:v>48</c:v>
                </c:pt>
                <c:pt idx="7">
                  <c:v>47</c:v>
                </c:pt>
                <c:pt idx="8">
                  <c:v>0</c:v>
                </c:pt>
                <c:pt idx="9">
                  <c:v>44.7</c:v>
                </c:pt>
                <c:pt idx="10">
                  <c:v>35.6</c:v>
                </c:pt>
                <c:pt idx="11">
                  <c:v>31.4</c:v>
                </c:pt>
                <c:pt idx="12">
                  <c:v>23</c:v>
                </c:pt>
                <c:pt idx="13">
                  <c:v>17.9</c:v>
                </c:pt>
              </c:numCache>
            </c:numRef>
          </c:val>
        </c:ser>
        <c:dLbls>
          <c:numFmt formatCode="0.0&quot;万&quot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F5B700">
              <a:alpha val="85000"/>
            </a:srgbClr>
          </a:solidFill>
          <a:ln w="12700">
            <a:solidFill>
              <a:srgbClr val="F5B7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2377440" cy="2377440"/>
          </a:xfrm>
          <a:prstGeom prst="ellipse">
            <a:avLst/>
          </a:prstGeom>
          <a:solidFill>
            <a:srgbClr val="34426A"/>
          </a:solidFill>
          <a:ln w="12700">
            <a:solidFill>
              <a:srgbClr val="3442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社内戦略検討用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STEAM教育・子ども向け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プログラミング教室 競合比較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料金／レッスン内容／先生の質／使用教材／考えられる課題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ステモン＋競合13社（参考：ナリカ）｜調査日 2026-09-28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結論：価格は「中央帯」。勝ち筋は価格ではなく、講師品質と成果の見える化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価格は通学型ロボット教室の中央帯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の3年総額は約46.5万円（試算）。ヒューマンアカデミー・プログラボ・エジソンアカデミーとほぼ同水準。高価格帯はLITALICO（約108.6万円）・クレファス（約76.1万円）、低価格帯はオンライン系（18〜23万円）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132588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競合の共通の弱点＝ステモンの攻めどころ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2697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①講師品質のばらつき（業務委託・学生講師・加盟塾依存）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②教材の買い足し・総額が見えにくい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③作品を持ち帰れない／成長が見えにくい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教材貸出・少人数・年中からの一貫性が効く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32588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1463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19659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市場は再編期。流出層の受け皿チャンス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Campus（LEGOブランド喪失）、Tech Kids School（新規受付停止）、Z会（講座縮小）。一方でヒューマンアカデミー（2,000教室超）とQUREO（3,000教室超）の規模・塾併設FCが最大の脅威。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77295" cy="1143000"/>
          </a:xfrm>
          <a:prstGeom prst="roundRect">
            <a:avLst>
              <a:gd name="adj" fmla="val 96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2578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優先アクション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5230368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「3年総額」を公式に提示し、競合との総額比較で説明する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作品持ち帰り＋毎回の保護者レポートで「成長の見える化」を標準化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小4〜6の出口（テキストコーディング・外部大会挑戦）を強化し高学年の退会を防ぐ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SCOPE &amp;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調査の概要と数値の読み方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社内の戦略検討。ステモンの立ち位置と打ち手を明らかにする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391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0391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ステモン＋競合13社（ロボット・ものづくり系7／プログラミング特化3／オンライン・通信3）。参考：ナリカ（教材メーカー）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523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7523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料金（1年目・3年総額）／レッスン内容／先生の質（募集要項・口コミ）／使用教材／口コミ／課題と攻めどころ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655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46557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Web検索結果（公式サイト・比較サイト・口コミサイト・求人サイトの要約）から収集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7880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788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総額の計算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41788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入会金＋（月謝＋月額諸費用）×12か月＋教材・その他。各社の前提は元データExcelの「料金比較」シートに記載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325880"/>
            <a:ext cx="3593592" cy="3383280"/>
          </a:xfrm>
          <a:prstGeom prst="roundRect">
            <a:avLst>
              <a:gd name="adj" fmla="val 32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187452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調査環境の制約により、各社公式ページの本文は直接閲覧できていません。数値は検索結果の要約に基づきます。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社外利用・最終判断の前に、元データExcelの「要確認リスト」（17項目）を公式ページで確認してください。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確度の表記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4406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54681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運営会社・公式サイト由来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73552" y="54406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10712" y="54681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二次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比較・口コミ・ブログ由来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9904" y="54406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27064" y="54681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推定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本資料での試算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06256" y="54406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43416" y="54681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古い・食い違い・未確認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COMPETITORS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比較対象：3分類・13社＋参考1社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ロボット・ものづくり系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470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Campus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教室数不明（首都圏の商業施設中心）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70048" y="198424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9842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4871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ヒューマンアカデミー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2,000教室以上・生徒2.7万人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70048" y="262432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70048" y="262432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27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ロボ団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約100〜120教室（2022年）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70048" y="326440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0048" y="32644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7673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クレファス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112教室＋海外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70048" y="390448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70048" y="390448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074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4074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エジソンアカデミー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約850〜900教室（2021年頃）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70048" y="454456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70048" y="454456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50474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プログラボ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84校・約8,000名（2024年）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70048" y="518464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70048" y="51846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68756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56875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タミヤ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約100教室（古い数値）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670048" y="582472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70048" y="582472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64992" y="12801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7A4FB5"/>
          </a:solidFill>
          <a:ln w="12700">
            <a:solidFill>
              <a:srgbClr val="7A4FB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64992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プログラミング特化系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64992" y="184708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02152" y="18470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LITALICO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23拠点（1都3県）＋オンライン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577840" y="198424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577840" y="19842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64992" y="248716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02152" y="24871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Tech Kids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渋谷1校＋オンライン／新規受付停止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77840" y="262432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77840" y="262432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64992" y="312724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02152" y="3127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QUREO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3,000教室超（塾併設）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577840" y="326440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77840" y="32644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72784" y="12801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2E9C8F"/>
          </a:solidFill>
          <a:ln w="12700">
            <a:solidFill>
              <a:srgbClr val="2E9C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272784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オンライン・通信系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272784" y="184708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9944" y="18470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Z会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通信教育（全国）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485632" y="198424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485632" y="198424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72784" y="248716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09944" y="24871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デジタネ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オンライン＋提携教室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485632" y="262432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485632" y="262432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72784" y="312724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09944" y="31272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CodeCampKIDS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40教室以上＋オンライン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485632" y="3264408"/>
            <a:ext cx="420624" cy="274320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85632" y="326440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180576" y="1280160"/>
            <a:ext cx="2553919" cy="457200"/>
          </a:xfrm>
          <a:prstGeom prst="roundRect">
            <a:avLst>
              <a:gd name="adj" fmla="val 16000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180576" y="1280160"/>
            <a:ext cx="25539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参考（競合ではない）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9180576" y="1847088"/>
            <a:ext cx="2553919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317736" y="1920240"/>
            <a:ext cx="227959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ナリカ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理科・プログラミング教材メーカー（LEGO Education正規代理店）。子ども向け教室は運営していない。→ 教材調達・学校連携のパートナー候補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180576" y="4160520"/>
            <a:ext cx="2553919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317736" y="4224528"/>
            <a:ext cx="227959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今後の注視対象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KOOVパートナー教室（ソニー）、学研 もののしくみ研究室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9180576" y="5715000"/>
            <a:ext cx="25539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右の色ラベル＝ステモンにとっての脅威度（高・中・低／定性評価）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BASIC INFO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基本情報：規模はヒューマンアカデミーとQUREOが突出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1554480"/>
                <a:gridCol w="3291840"/>
                <a:gridCol w="1463040"/>
                <a:gridCol w="6675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運営会社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規模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運営形態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脅威度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株式会社ヴィリング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年中〜小6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170教室以上（2026年4月）／在籍3,500名以上（要確認）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直営＋FC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B647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ラーニングシステム ほか地域運営会社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2歳〜中学生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教室総数は不明（首都圏の商業施設中心＋関西・東海）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パートナー制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ヒューマンアカデミー株式会社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年中〜高校生相当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2,000教室以上・生徒27,000人超（2025年8月、公式）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FC主体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夢見る株式会社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年長〜中学生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約100〜120教室・生徒5,500〜6,500人（2022年時点、最新値なし）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直営＋FC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株式会社ロボット科学教育＋CREFUSマーケティング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年長〜高校生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112教室（時点不明）＋海外（ホーチミン・台北）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直営＋FC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株式会社アーテック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小3以上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約850〜900教室（2021年頃の数値、最新は未確認）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プログラボ教育事業運営委員会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年長〜中学生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84校・在籍約8,000名（2024年9月）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直営中心＋FC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628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株式会社ナチュラルスタイル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約100教室（古い数値、最新は未確認）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株式会社LITALICO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年長〜高3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23拠点（2026年6月末）＋オンライン、1都3県のみ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株式会社CA Tech 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渋谷校1校＋オンライン校。【新規の体験・入学受付を停止中】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株式会社キュレオ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小2〜中学生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3,000教室超（2024年3月）、最新表記 3,272〜3,300教室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株式会社Z会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年長〜中学生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通信教育（全国）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エデュケーショナル・デザイン株式会社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オンライン＋提携教室100以上（要確認）、累計5,000人超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オンライン受け放題＋ライセンス提携教室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コードキャンプ株式会社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年長〜中学生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40教室以上＋オンライン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直営＋FC＋オンライン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PRICE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料金①：3年総額で見ると、ステモンは通学型の中央帯（約46.5万円）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72237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01000" y="1325880"/>
            <a:ext cx="3733495" cy="1115568"/>
          </a:xfrm>
          <a:prstGeom prst="roundRect">
            <a:avLst>
              <a:gd name="adj" fmla="val 6557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38160" y="1371600"/>
            <a:ext cx="34591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中央帯に密集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ステモン・エジソン・ロボ団・ヒューマン・プログラボ・STEAM Campusが44〜52万円に集中。価格での差別化は難しい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2578608"/>
            <a:ext cx="3733495" cy="1115568"/>
          </a:xfrm>
          <a:prstGeom prst="roundRect">
            <a:avLst>
              <a:gd name="adj" fmla="val 65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2624328"/>
            <a:ext cx="34591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高価格帯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LITALICO（月約3万円）、Tech Kids（受付停止）、クレファス（教材買い足し）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3831336"/>
            <a:ext cx="3733495" cy="1115568"/>
          </a:xfrm>
          <a:prstGeom prst="roundRect">
            <a:avLst>
              <a:gd name="adj" fmla="val 65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877056"/>
            <a:ext cx="34591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低価格帯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タミヤ・QUREO（月1万円以下）、Z会・デジタネ（オンライン）。講師の伴走がない／薄い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01000" y="5084064"/>
            <a:ext cx="3733495" cy="1115568"/>
          </a:xfrm>
          <a:prstGeom prst="roundRect">
            <a:avLst>
              <a:gd name="adj" fmla="val 65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5129784"/>
            <a:ext cx="345917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見えない費用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クレファスの追加キット、エジソンの3年目教材、ロボ団のタブレット代などは未計上＝実際はさらに高い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PRICE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料金②：内訳と1時間あたり単価。ステモンは約3,500円/時で「中の下」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960120"/>
                <a:gridCol w="1143000"/>
                <a:gridCol w="868680"/>
                <a:gridCol w="868680"/>
                <a:gridCol w="822960"/>
                <a:gridCol w="4187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月謝（1年目）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教材・その他（1年目）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1年目総額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3年総額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1時間単価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計算の前提（要約）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11,660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15.6万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46.5万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3,498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小1ベーシック→小2アドバンス→小3キッズエリート。施設管理費880円/月、2年目以降は年度更新料2,200円＋ロ…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25,300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11,100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18.9万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51.5万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月謝は平均値11,100円、教材は毎年3万円（1〜4.7万円の中央値）と仮定。設備費・指導関連費は除く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11,550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18.3万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48.0万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3,850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月謝11,550円（2024年11月改定後）、入会時キット33,000円、進級時の追加キット2万円（仮定）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12,750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16.4万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47.0万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月謝は9,800〜15,800円の幅があるため、スタータークラス12,750円で代表計算。教材は貸与（レンタル料・…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18,810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67,815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31.0万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76.1万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3,583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小3ブロンズで入会。月謝17,600円＋維持費1,210円、入会時教材67,815円。小4の追加キット代は不明のた…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18.3万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44.7万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3,667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入会金11,000円、キット4万円（2年分）、月謝11,000円。3年目エキスパート編の教材費は不明のため含まず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11,770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14.1万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48.4万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4,708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入会金・教材費0円。ビギナー→スタンダードII→アドバンストと1年ごとに進級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7,150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20,350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11.6万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31.4万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2,383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入会金1万円、月謝7,150円、教材1年目20,350円・2年目13,200円、3年目は2年目と同額と仮置き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16,500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29,700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37.3万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108.6万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4,950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基本コース月4回29,700円、教材費は月謝に含む。入会金16,500円（二次）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25,410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30.5万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91.5万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4,235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受講費23,210円＋教材費2,200円/月、PC持参。新規受付停止中のため参考値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9,900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11.9万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35.6万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2,475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月謝9,900円（最低価格帯）、教材費0円。入会金は教室ごとで不明のため0円で計算（実際は上乗せ）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6,200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7.4万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23.0万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みらい講座 with KOOV。ステージ1は6,200円/月（キット代込み）、ステージ2・3は6,500円と仮定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4,980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6.0万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17.9万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月々プラン4,980円（年間一括なら39,800円/年）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11,000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14.3万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53.9万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教室：ロボットコース1年→Scratchコース2年。教材費は不明のため含まず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21792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月謝は月額諸費用込み。1時間単価＝月額÷月の授業時間（不明・通信型は—）。前提の全文は元データExcel「料金比較」シートC列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LESSON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レッスン内容：月の授業回数・人数・大会との接続が差になる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463040"/>
                <a:gridCol w="3108960"/>
                <a:gridCol w="1920240"/>
                <a:gridCol w="13075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時間・回数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クラス人数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カリキュラムの特徴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大会・検定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保護者への共有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60分×月3〜4回（幼児 月2回）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幼児4名・小学生6名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しる→つくる→ためす。物理の仕組み＋プログラミング＋ロボット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ステモンカップ（小学生ロボコン予選）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セミナーあり／毎回レポートは要確認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50〜90分（回数は要確認）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4〜8名（教室差）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LEGOで年齢別の1年コース（2歳〜）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特になし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90分×月2回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最大10名程度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ロボット製作→改造・プログラミング（最長8年）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ロボット教室全国大会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授業最後の発表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50〜120分×月3回程度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講師1〜3名体制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SPIKEでペア学習＋毎回の発表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社内大会・WRO実績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アプリで学習状況を共有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90分×年42回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学年別テーマ、理科・算数と連動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FLL世界大会に出場（2026年）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90分×月2回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1:4〜5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2年制、毎月1体ロボット製作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年1回程度の大会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教室ごと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50/90分×月3回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10名に講師3名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段階別4コース、最後に発表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プログラボカップ・WRO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見学可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90分×月2回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IchigoJamのテキスト入力／工作キット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自由製作コンテスト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教室ごと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90分×月4回〜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1:1〜4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ゲーム・ロボ・3DCG等を個別計画で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年2回の発表会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個別指導計画・FB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120分×月3回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3〜6名にメンター1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Scratch→Swift/Unityでアプリ開発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 Grand Prix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半年ごとの成果発表会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60分×月4回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教室ごと（自習型）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オンライン教材で自学自習、検定準拠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プログラミング能力検定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保護者ページで進捗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月1回分の教材（自宅）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KOOVで組立→プログラミング（3年）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特になし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毎月の保護者ガイド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受け放題（動画）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マイクラ・Robloxでゲーム制作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90分（回数は要確認）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オンライン5名程度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Scratch→ロボット→Unity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ジュニア・プログラミング検定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課題へのFB（オンライン）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TEACHER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先生の質：多くがアルバイト・業務委託で「教室差」が口コミの定番不満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2240280"/>
                <a:gridCol w="1737360"/>
                <a:gridCol w="1188720"/>
                <a:gridCol w="27249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雇用形態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時給・給与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研修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講師1人あたり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口コミ傾向（良い／不満）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アルバイト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コマ給2,000〜2,700円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（時給換算 約1,330〜1,800円）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2か月（座学＋実地）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1:4〜6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楽しく通える／個別対応が少ない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アルバイト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1,200〜1,600円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4〜8名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質が高い／運営会社で差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業務委託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1,320円〜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本部マニュアル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〜10名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教室によってばらつき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アルバイト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明るい／理解度が見えにくい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アルバイト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2,000円以上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研修あり・力量で担当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ハキハキ／専門性に差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加盟教室が採用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加盟時研修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1:4〜5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しっかり見てもらえる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アルバイト（学生）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1,100〜2,000円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最大3か月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1:3〜4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熱心／学生講師でばらつき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加盟教室が採用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口コミが少ない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正社員中心＋アルバイト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1,230〜1,500円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1on1・教室会議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1:1〜4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質が高い／担当が変わる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大学生メンター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選考・研修で認定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1:3〜6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年が近く話しやすい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加盟塾の講師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1,300〜1,680円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教室ごと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当たり外れ・見守るだけ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講師なし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伴走者がいない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チャット対応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即時に解決しにくい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アルバイト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1,200〜1,500円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研修あり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丁寧／講師で差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MATERIALS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使用教材：「購入型」「貸与型」「月謝込み型」の3類型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5895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91440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使用教材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費用負担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独自カリキュラム＋ブロック・PC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貸出（購入不要）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 Education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毎年購入（1〜4.7万円）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独自ロボットキット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 33,000円＋進級時追加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 SPIKE Prime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貸与（持ち帰り不可）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LEGOベース＋独自テキスト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既製＋独自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 67,815円〜（節目で買い足し）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アーテックロボ（自社製）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 約3〜4.4万円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 SPIKE・EV3・micro:bit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貸与（持ち帰り不可）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タミヤ工作キット＋IchigoJam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購入 年1.3〜2万円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Scratch・LEGO・3Dプリンタ等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既製＋独自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月謝込み（教室備品）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QUREO・Swift・Unity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独自＋既製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教材費2,200円/月・PC持参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QUREO（オンライン教材）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無料（月謝込み）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KOOV（ソニー）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キット代込み月額（所有）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動画教材・Minecraft・Roblox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独自＋既製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Minecraftは別途購入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Scratch・toio・Sphero・Unity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234440"/>
            <a:ext cx="3459175" cy="1353312"/>
          </a:xfrm>
          <a:prstGeom prst="roundRect">
            <a:avLst>
              <a:gd name="adj" fmla="val 54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280160"/>
            <a:ext cx="3184855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購入型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ヒューマン・クレファス・エジソン・タミヤ・STEAM Campus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作品を持ち帰れるが、初期費用・買い足しが不満の定番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75320" y="2715768"/>
            <a:ext cx="3459175" cy="1353312"/>
          </a:xfrm>
          <a:prstGeom prst="roundRect">
            <a:avLst>
              <a:gd name="adj" fmla="val 54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2761488"/>
            <a:ext cx="3184855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貸与型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ステモン・ロボ団・プログラボ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初期費用は低いが、ロボ団・プログラボは持ち帰り不可が不満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75320" y="4197096"/>
            <a:ext cx="3459175" cy="1353312"/>
          </a:xfrm>
          <a:prstGeom prst="roundRect">
            <a:avLst>
              <a:gd name="adj" fmla="val 540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4242816"/>
            <a:ext cx="3184855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月謝込み型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LITALICO・QUREO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総額は分かりやすいが、月謝に上乗せされる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75320" y="5669280"/>
            <a:ext cx="3459175" cy="640080"/>
          </a:xfrm>
          <a:prstGeom prst="roundRect">
            <a:avLst>
              <a:gd name="adj" fmla="val 11429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5669280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ステモンは「貸与で初期費用が低い」＋「成果を家に持ち帰れる工夫」で両取りを狙える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REVIEWS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口コミ傾向：不満は「費用」「講師差」「成果が見えない」に集中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636008"/>
                <a:gridCol w="499262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褒められている点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不満が多い点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夢中になる・仕組みから学べる・ロボコン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高め・個別対応が少ない・地方に少ない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質の高いプログラム・幼児から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教材を毎年購入・体験有料・ブランド混乱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近所にある・ロボットがかっこいい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講師差・組立中心・初期費用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ペア学習と発表・アプリ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持ち帰り不可・隠れ費用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本格的・大会実績・中高まで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最高水準の費用・教材買い足し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安め・少人数・持ち帰り可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キット代・料金が非公開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入会金・教材0円・駅近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上位コース高額・学生講師差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最安クラス・本物の工作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口コミ少・教室が少ない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先生の質・個別対応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業界最高水準の料金・首都圏のみ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本格度・発表文化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高額・渋谷のみ・受付停止中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安い・近所の塾・検定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教室差・自習中心・画面のみ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自分のペース・キット所有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飽きる・親の負担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ゲームで夢中・安い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即時に質問できない・ゲーム目的化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教室がきれい・Unityまで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上位コース高額・講師差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⑦ ISSUES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各社の課題と、ステモンが攻められるポイント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480560"/>
                <a:gridCol w="4416552"/>
                <a:gridCol w="73152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考えられる課題（弱み）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ステモンの攻めどころ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脅威度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STEAM Campus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LEGOブランド喪失、教材の毎年購入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ブランドの一貫性、購入不要で総額が明快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ヒューマンアカデミー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講師品質のばらつき、組立中心、月2回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講師研修、探究型、授業回数の多さ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ロボ団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成果が家に残らない、料金体系が複雑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作品持ち帰り、保護者レポート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クレファス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総額が最高水準、大会・上級志向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コスパ、大会志向でない子の受け皿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エジソンアカデミー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小3〜、2年で一巡、料金非公開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年中からの一貫性、長期カリキュラム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LEGOを組む中心、持ち帰り不可、沿線偏在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身近な素材のものづくり、沿線外出店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タミヤ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教室数が少ない、低学年に弱い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低学年からの一貫性、内容の密度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LITALICO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月3万円、1都3県のみ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同じ少人数探究型を低価格・地域密着で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Tech Kids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新規受付停止、渋谷のみ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本格志向層の受け皿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QUREO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画面内で完結、講師差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ハンズオン、対話型授業、小2未満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2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Z会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講座の縮小、講師不在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通信で続かない家庭の受け皿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ゲーム依存、自走が前提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リアルな体験と講師の伴走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CodeCampKIDS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教室数が少ない、上位コース高額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幼児のものづくり、教室網の広さ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⑧ POSITIONING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ポジショニング：「40〜55万円×ものづくり寄り」が激戦区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04903" y="1458925"/>
            <a:ext cx="1199170" cy="1995678"/>
          </a:xfrm>
          <a:prstGeom prst="roundRect">
            <a:avLst>
              <a:gd name="adj" fmla="val 7625"/>
            </a:avLst>
          </a:prstGeom>
          <a:solidFill>
            <a:srgbClr val="FFF6D6"/>
          </a:solidFill>
          <a:ln w="12700">
            <a:solidFill>
              <a:srgbClr val="F5B70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818273" y="3180283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82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激戦区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5760720"/>
            <a:ext cx="7406640" cy="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1325880"/>
            <a:ext cx="0" cy="4434840"/>
          </a:xfrm>
          <a:prstGeom prst="line">
            <a:avLst/>
          </a:prstGeom>
          <a:noFill/>
          <a:ln w="12700">
            <a:solidFill>
              <a:srgbClr val="5B64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28354" y="5806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20万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39143" y="5806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40万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49931" y="5806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60万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5806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80万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171509" y="5806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6053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3年総額（試算）→ 高い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ものづくり・実体験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5212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画面内の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79542" y="1586484"/>
            <a:ext cx="365760" cy="3657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81094" y="16504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96529" y="2093976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8281" y="2093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Campus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8935" y="2431024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50687" y="24310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ヒューマンアカデミー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79807" y="3069641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81359" y="3115361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35855" y="2980944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7607" y="29809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クレファス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17566" y="2643896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73398" y="26438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エジソンアカデミー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81666" y="2892247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83418" y="291967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80450" y="2093976"/>
            <a:ext cx="237744" cy="237744"/>
          </a:xfrm>
          <a:prstGeom prst="ellipse">
            <a:avLst/>
          </a:prstGeom>
          <a:solidFill>
            <a:srgbClr val="2F6D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82002" y="2093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タミヤ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22919" y="3424428"/>
            <a:ext cx="237744" cy="237744"/>
          </a:xfrm>
          <a:prstGeom prst="ellipse">
            <a:avLst/>
          </a:prstGeom>
          <a:solidFill>
            <a:srgbClr val="7A4F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8751" y="34244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LITALICO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17118" y="4754880"/>
            <a:ext cx="237744" cy="237744"/>
          </a:xfrm>
          <a:prstGeom prst="ellipse">
            <a:avLst/>
          </a:prstGeom>
          <a:solidFill>
            <a:srgbClr val="7A4F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18870" y="4754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Tech Kids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78479" y="5198364"/>
            <a:ext cx="237744" cy="237744"/>
          </a:xfrm>
          <a:prstGeom prst="ellipse">
            <a:avLst/>
          </a:prstGeom>
          <a:solidFill>
            <a:srgbClr val="7A4F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80231" y="51983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QUREO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89682" y="3424428"/>
            <a:ext cx="237744" cy="237744"/>
          </a:xfrm>
          <a:prstGeom prst="ellipse">
            <a:avLst/>
          </a:prstGeom>
          <a:solidFill>
            <a:srgbClr val="2E9C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291434" y="34244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Z会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29085" y="5198364"/>
            <a:ext cx="237744" cy="237744"/>
          </a:xfrm>
          <a:prstGeom prst="ellipse">
            <a:avLst/>
          </a:prstGeom>
          <a:solidFill>
            <a:srgbClr val="2E9C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30837" y="51983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デジタネ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66529" y="4311396"/>
            <a:ext cx="237744" cy="237744"/>
          </a:xfrm>
          <a:prstGeom prst="ellipse">
            <a:avLst/>
          </a:prstGeom>
          <a:solidFill>
            <a:srgbClr val="2E9C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68281" y="43113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CodeCampKIDS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280160" y="6254496"/>
            <a:ext cx="128016" cy="128016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63040" y="6199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80360" y="6254496"/>
            <a:ext cx="128016" cy="12801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063240" y="6199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ロボット・ものづくり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80560" y="6254496"/>
            <a:ext cx="128016" cy="128016"/>
          </a:xfrm>
          <a:prstGeom prst="ellipse">
            <a:avLst/>
          </a:prstGeom>
          <a:solidFill>
            <a:srgbClr val="7A4FB5"/>
          </a:solidFill>
          <a:ln w="12700">
            <a:solidFill>
              <a:srgbClr val="7A4FB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63440" y="6199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プログラミング特化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80760" y="6254496"/>
            <a:ext cx="128016" cy="128016"/>
          </a:xfrm>
          <a:prstGeom prst="ellipse">
            <a:avLst/>
          </a:prstGeom>
          <a:solidFill>
            <a:srgbClr val="2E9C8F"/>
          </a:solidFill>
          <a:ln w="12700">
            <a:solidFill>
              <a:srgbClr val="2E9C8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63640" y="6199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オンライン・通信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006840" y="1325880"/>
            <a:ext cx="2727655" cy="146304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16568" y="1371600"/>
            <a:ext cx="2508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価格帯が同じ競合が多く、価格では差がつかない。同じ価格帯の中で「何が違うか」を説明できることが勝敗を分ける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006840" y="2926080"/>
            <a:ext cx="2727655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116568" y="2971800"/>
            <a:ext cx="2508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ステモンの独自領域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年中から・物理の仕組み・教材貸出・少人数。「ものづくり×探究」の最上位に位置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006840" y="4526280"/>
            <a:ext cx="2727655" cy="146304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116568" y="4572000"/>
            <a:ext cx="2508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空白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「ものづくり寄り×30万円台」はタミヤのみ。低価格の入門コース／短期講座で入口を作る余地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9006840" y="6172200"/>
            <a:ext cx="2727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縦軸は定性評価（元データの「ポジショニング」シートで調整可）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⑨ SWOT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ステモンのSWOT（競合比較から導出）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47208" cy="2487168"/>
          </a:xfrm>
          <a:prstGeom prst="roundRect">
            <a:avLst>
              <a:gd name="adj" fmla="val 36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99032"/>
            <a:ext cx="502920" cy="50292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84248"/>
            <a:ext cx="5135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年中から通えるSTEAM（物理の仕組み＋ものづくり＋プログラミング）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少人数（幼児4名・小学生6名）の対面授業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教材は教室で貸出＝購入不要で初期費用が低い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小学生ロボコン公式予選「ステモンカップ」を自社主催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170教室超、出店継続（学童・フリースクールへも展開）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7288" y="1234440"/>
            <a:ext cx="5547208" cy="2487168"/>
          </a:xfrm>
          <a:prstGeom prst="roundRect">
            <a:avLst>
              <a:gd name="adj" fmla="val 36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0168" y="1399032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016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10248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1984248"/>
            <a:ext cx="5135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月謝＋諸費用で年15万円前後（オンライン系の2〜3倍）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FCで振替ルール・講師品質が教室ごとにばらつく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講師は未経験可のアルバイト中心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小4以降の本格コード（Python/Unity等）の出口が薄い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入会金・施設費の表示が情報源でばらつき、総額が分かりにくい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5547208" cy="2487168"/>
          </a:xfrm>
          <a:prstGeom prst="roundRect">
            <a:avLst>
              <a:gd name="adj" fmla="val 36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2E9C8F"/>
          </a:solidFill>
          <a:ln w="12700">
            <a:solidFill>
              <a:srgbClr val="2E9C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41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機会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08576"/>
            <a:ext cx="5135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Campusの「LEGOブランド喪失」で幼児層が流動化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Tech Kids Schoolの新規受付停止、Z会の講座縮小で受け皿需要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ロボ団・プログラボは作品を持ち帰れない→「成果の見える化」で差別化余地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競合の多くが総額非公開・教材の買い足しあり→総額の透明化で優位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沿線・首都圏外の空白エリア（LITALICO・プログラボ・CodeCampKIDSは偏在）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7288" y="3858768"/>
            <a:ext cx="5547208" cy="2487168"/>
          </a:xfrm>
          <a:prstGeom prst="roundRect">
            <a:avLst>
              <a:gd name="adj" fmla="val 3676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168" y="4023360"/>
            <a:ext cx="502920" cy="502920"/>
          </a:xfrm>
          <a:prstGeom prst="ellipse">
            <a:avLst/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016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010248" y="4041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脅威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4608576"/>
            <a:ext cx="51357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ヒューマンアカデミー（2,000教室超）、QUREO（3,000教室超）の規模と塾併設FCの拡大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プログラボの入会金・教材費0円モデル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クレファス（時給2,000円超）等との講師採用競争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オンライン系（年4〜7万円）の低価格化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競合の大会実績（クレファスのFLL世界大会等）による上位層の流出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⑩ ACTIONS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提言：7つの打ち手（優先度・期間つき）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料金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23444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「3年総額」の公式提示と、競合との総額比較表を体験会で配布。入会金・施設費の表記を全教室で統一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0" y="1389888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0" y="13898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優先高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0" y="12344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〜3か月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9568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成果の見える化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195681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作品持ち帰り＋毎回の保護者レポート（写真・コメント）を標準化し、ロボ団・プログラボとの差別化軸にする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84080" y="211226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0" y="21122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優先高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195681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〜3か月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679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カリキュラム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2679192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小4〜6向けの出口（テキストコーディング・外部大会挑戦コース）を強化し、高学年の退会を防ぐ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84080" y="283464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0" y="28346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優先高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26791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6〜12か月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4015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講師品質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34015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研修2か月・グレード制を「講師品質の約束」として外部に発信。FC教室を含めた授業品質チェックを定例化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84080" y="3557016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84080" y="35570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優先中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0" y="3401568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〜6か月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23944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12394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集客・ターゲット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0" y="412394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Campus・Tech Kids・Z会からの流出層向けキャンペーン（乗り換え入会金免除など）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84080" y="4279392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0" y="42793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優先中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0" y="412394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〜3か月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8463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出店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377440" y="484632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沿線外・地方の空白エリアを競合マップで特定し、FC開拓の優先エリアに設定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784080" y="5001768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D98200"/>
          </a:solidFill>
          <a:ln w="12700">
            <a:solidFill>
              <a:srgbClr val="D982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84080" y="50017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優先中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0" y="484632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6〜12か月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568696"/>
            <a:ext cx="11277295" cy="621792"/>
          </a:xfrm>
          <a:prstGeom prst="roundRect">
            <a:avLst>
              <a:gd name="adj" fmla="val 11765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556869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2377440" y="5568696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ナリカ等の教材サプライヤーとの教材調達・学校連携（公教育）の協業を検討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84080" y="5724144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784080" y="5724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優先低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0" y="556869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12か月〜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要確認事項と次のステップ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優先して確認すべき数値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6309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ステモン自社：入会金（16,500円 / 5,500円）・施設管理費（880円 / 2,200円）の正、小4〜の月謝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ロボ団：コース別の月謝、教材レンタル料・タブレット代の有無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クレファス：コース別の月謝（3年総額が別サイトの試算と大きく食い違う）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STEAM Campus：コース別の月謝・設備費・月の回数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QUREO：入会金と教室ごとの月謝（近隣の加盟塾で確認）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Tech Kids School：新規受付停止の時期・理由・再開予定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60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全17項目は元データExcelの「要確認リスト」シート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0" y="132588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123444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数値の確定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要確認リストを公式ページ・社内料金表で確認（〜2週間）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251460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4231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エリア別の競合マップ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主要教室の半径2km内の競合教室を地図化し、出店・集客の優先度を決める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0" y="370332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61188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施策の具体化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3年総額の提示と保護者レポートの試行（直営校から）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489204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80060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定期更新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半年ごとに料金・教室数を更新（Excelの青字セルを書き換え）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参考：ナリカは競合ではなく「教材サプライヤー」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出典：各社公式サイト・比較サイト・求人サイト等の検索結果要約（調査日 2026-09-28）。「要確認」「推定」を含む社内検討用資料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2628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会社概要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1918年創業（中村理科機器店）、2008年に「ナリカ」へ社名変更。本社：東京都千代田区外神田。従業員88名（2025年5月）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小中高・大学向け理科教材・実験機器の企画・製造・販売（理科ドットコム rika.com）、EC「scibox」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プログラミング教材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LEGO Education 正規販売代理店（SPIKE プライム／ベーシック等）、micro:bitシリーズ、小6理科「電気の利用」向けセット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教員向け研修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ナリカサイエンスアカデミー（NSA）：教員向け理科実験実技講習。受講料 教員2,000円／学生1,000円（1講座）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価格帯（参考）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SPIKE プライム基本セット 約68,000〜75,000円（他販売店）。ナリカの価格は未確認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ステモンとの関係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競合ではなく、①理科実験・LEGO/micro:bit教材の調達先、②教員研修ノウハウ・講師人材との接点、③学校向け販路（公教育連携）のパートナー候補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48640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486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示唆：理科実験・LEGO／micro:bit教材の調達、教員研修（NSA）ノウハウ、学校向け販路での協業余地を検討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STEAM教育・子ども向けプログラミング教室 競合比較</dc:title>
  <dc:subject>PptxGenJS Presentation</dc:subject>
  <dc:creator>PptxGenJS</dc:creator>
  <cp:lastModifiedBy>PptxGenJS</cp:lastModifiedBy>
  <cp:revision>1</cp:revision>
  <dcterms:created xsi:type="dcterms:W3CDTF">2026-09-28T01:01:23Z</dcterms:created>
  <dcterms:modified xsi:type="dcterms:W3CDTF">2026-09-28T01:01:23Z</dcterms:modified>
</cp:coreProperties>
</file>